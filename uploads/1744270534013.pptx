
<file path=[Content_Types].xml><?xml version="1.0" encoding="utf-8"?>
<Types xmlns="http://schemas.openxmlformats.org/package/2006/content-types">
  <Default Extension="avif" ContentType="image/av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325" r:id="rId5"/>
    <p:sldId id="326" r:id="rId6"/>
    <p:sldId id="341" r:id="rId7"/>
    <p:sldId id="342" r:id="rId8"/>
    <p:sldId id="343" r:id="rId9"/>
    <p:sldId id="344" r:id="rId10"/>
    <p:sldId id="345" r:id="rId11"/>
    <p:sldId id="346" r:id="rId12"/>
    <p:sldId id="347" r:id="rId13"/>
    <p:sldId id="349" r:id="rId14"/>
    <p:sldId id="348" r:id="rId15"/>
    <p:sldId id="351" r:id="rId16"/>
    <p:sldId id="352" r:id="rId17"/>
    <p:sldId id="257" r:id="rId18"/>
    <p:sldId id="350" r:id="rId19"/>
    <p:sldId id="34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240" autoAdjust="0"/>
  </p:normalViewPr>
  <p:slideViewPr>
    <p:cSldViewPr snapToGrid="0">
      <p:cViewPr varScale="1">
        <p:scale>
          <a:sx n="80" d="100"/>
          <a:sy n="80" d="100"/>
        </p:scale>
        <p:origin x="782" y="62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81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95820-84BB-3447-8286-60A51307E7F2}" type="datetimeFigureOut">
              <a:rPr lang="en-US" smtClean="0"/>
              <a:t>3/20/2025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76440-F66F-F947-8EFC-EA5202ACFD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8FC54-6AE4-6A4A-9756-823A0F1BE5A6}" type="datetimeFigureOut">
              <a:rPr lang="en-US" smtClean="0"/>
              <a:t>3/20/2025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9E9EB-07EB-9D44-9F5A-AB1FBECCDD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76609C33-D605-6146-1378-F67C572F05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 anchor="ctr"/>
          <a:lstStyle>
            <a:lvl1pPr algn="ctr">
              <a:defRPr sz="54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DC5B68-548C-395D-B9A9-EA694F6CB59F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38F023-8BDF-71DB-D6AB-776F7C6413B2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3581400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  <a:gd name="connsiteX4" fmla="*/ 0 w 3581400"/>
              <a:gd name="connsiteY4" fmla="*/ 6172201 h 6858000"/>
              <a:gd name="connsiteX5" fmla="*/ 2971800 w 3581400"/>
              <a:gd name="connsiteY5" fmla="*/ 6172201 h 6858000"/>
              <a:gd name="connsiteX6" fmla="*/ 2971800 w 3581400"/>
              <a:gd name="connsiteY6" fmla="*/ 685800 h 6858000"/>
              <a:gd name="connsiteX7" fmla="*/ 0 w 3581400"/>
              <a:gd name="connsiteY7" fmla="*/ 685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6172201"/>
                </a:lnTo>
                <a:lnTo>
                  <a:pt x="2971800" y="6172201"/>
                </a:lnTo>
                <a:lnTo>
                  <a:pt x="29718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/>
          <a:lstStyle>
            <a:lvl1pPr>
              <a:defRPr sz="32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566160"/>
            <a:ext cx="4114800" cy="2651760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cap="all" spc="0" baseline="0"/>
            </a:lvl1pPr>
            <a:lvl2pPr marL="914400">
              <a:defRPr spc="0" baseline="0"/>
            </a:lvl2pPr>
            <a:lvl3pPr marL="1371600">
              <a:defRPr spc="0" baseline="0"/>
            </a:lvl3pPr>
            <a:lvl4pPr marL="1828800">
              <a:defRPr spc="0" baseline="0"/>
            </a:lvl4pPr>
            <a:lvl5pPr marL="2286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7568" y="1435608"/>
            <a:ext cx="5897880" cy="397764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3EB7E3-3953-BAB4-1B15-383082C6C31E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1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23682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3AD4F0-8C4C-FC68-2450-06419A6D0131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5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A510974D-B222-2876-052D-21F0E075D288}"/>
              </a:ext>
            </a:extLst>
          </p:cNvPr>
          <p:cNvSpPr/>
          <p:nvPr userDrawn="1"/>
        </p:nvSpPr>
        <p:spPr>
          <a:xfrm>
            <a:off x="0" y="0"/>
            <a:ext cx="12192000" cy="4457700"/>
          </a:xfrm>
          <a:custGeom>
            <a:avLst/>
            <a:gdLst>
              <a:gd name="connsiteX0" fmla="*/ 0 w 12192000"/>
              <a:gd name="connsiteY0" fmla="*/ 0 h 4457700"/>
              <a:gd name="connsiteX1" fmla="*/ 12192000 w 12192000"/>
              <a:gd name="connsiteY1" fmla="*/ 0 h 4457700"/>
              <a:gd name="connsiteX2" fmla="*/ 12192000 w 12192000"/>
              <a:gd name="connsiteY2" fmla="*/ 4457700 h 4457700"/>
              <a:gd name="connsiteX3" fmla="*/ 11563350 w 12192000"/>
              <a:gd name="connsiteY3" fmla="*/ 4457700 h 4457700"/>
              <a:gd name="connsiteX4" fmla="*/ 11563350 w 12192000"/>
              <a:gd name="connsiteY4" fmla="*/ 685800 h 4457700"/>
              <a:gd name="connsiteX5" fmla="*/ 628650 w 12192000"/>
              <a:gd name="connsiteY5" fmla="*/ 685800 h 4457700"/>
              <a:gd name="connsiteX6" fmla="*/ 628650 w 12192000"/>
              <a:gd name="connsiteY6" fmla="*/ 4457700 h 4457700"/>
              <a:gd name="connsiteX7" fmla="*/ 0 w 12192000"/>
              <a:gd name="connsiteY7" fmla="*/ 4457700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457700">
                <a:moveTo>
                  <a:pt x="0" y="0"/>
                </a:moveTo>
                <a:lnTo>
                  <a:pt x="12192000" y="0"/>
                </a:lnTo>
                <a:lnTo>
                  <a:pt x="12192000" y="4457700"/>
                </a:lnTo>
                <a:lnTo>
                  <a:pt x="11563350" y="4457700"/>
                </a:lnTo>
                <a:lnTo>
                  <a:pt x="11563350" y="685800"/>
                </a:lnTo>
                <a:lnTo>
                  <a:pt x="628650" y="685800"/>
                </a:lnTo>
                <a:lnTo>
                  <a:pt x="628650" y="4457700"/>
                </a:lnTo>
                <a:lnTo>
                  <a:pt x="0" y="44577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22860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9144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1A471A-8A28-B00F-72E9-849D5E6B7257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28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BB82FF-5339-5456-4D30-0C2DA7907AAE}"/>
              </a:ext>
            </a:extLst>
          </p:cNvPr>
          <p:cNvSpPr/>
          <p:nvPr userDrawn="1"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</p:spPr>
        <p:txBody>
          <a:bodyPr/>
          <a:lstStyle>
            <a:lvl1pPr>
              <a:defRPr sz="32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C39A257-2366-FF6B-67AD-9342B6B0B6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3429000"/>
            <a:ext cx="6217920" cy="2743200"/>
          </a:xfrm>
        </p:spPr>
        <p:txBody>
          <a:bodyPr>
            <a:normAutofit/>
          </a:bodyPr>
          <a:lstStyle>
            <a:lvl1pPr marL="457200">
              <a:spcBef>
                <a:spcPts val="1400"/>
              </a:spcBef>
              <a:buSzPct val="80000"/>
              <a:defRPr cap="all" spc="0" baseline="0"/>
            </a:lvl1pPr>
            <a:lvl2pPr marL="914400">
              <a:buSzPct val="80000"/>
              <a:defRPr spc="0" baseline="0"/>
            </a:lvl2pPr>
            <a:lvl3pPr marL="1371600">
              <a:buSzPct val="80000"/>
              <a:defRPr spc="0" baseline="0"/>
            </a:lvl3pPr>
            <a:lvl4pPr marL="1828800">
              <a:buSzPct val="80000"/>
              <a:defRPr spc="0" baseline="0"/>
            </a:lvl4pPr>
            <a:lvl5pPr marL="2286000">
              <a:buSzPct val="80000"/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A4A755-28B6-5A01-94AB-C3CCC4368885}"/>
              </a:ext>
            </a:extLst>
          </p:cNvPr>
          <p:cNvCxnSpPr>
            <a:cxnSpLocks/>
          </p:cNvCxnSpPr>
          <p:nvPr userDrawn="1"/>
        </p:nvCxnSpPr>
        <p:spPr>
          <a:xfrm>
            <a:off x="5340096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33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000" y="1481328"/>
            <a:ext cx="9144000" cy="389534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48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BCF04C-49F6-66E8-41A0-B3C371944EA1}"/>
              </a:ext>
            </a:extLst>
          </p:cNvPr>
          <p:cNvSpPr/>
          <p:nvPr userDrawn="1"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DDE351D0-FB9C-3473-AF28-52927741728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80160" y="548640"/>
            <a:ext cx="3017520" cy="301752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731520"/>
            <a:ext cx="4306824" cy="5394960"/>
          </a:xfrm>
        </p:spPr>
        <p:txBody>
          <a:bodyPr anchor="b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cap="all" baseline="0"/>
            </a:lvl1pPr>
            <a:lvl2pPr marL="914400">
              <a:buClr>
                <a:schemeClr val="tx1"/>
              </a:buClr>
              <a:buSzPct val="80000"/>
              <a:defRPr/>
            </a:lvl2pPr>
            <a:lvl3pPr marL="1371600">
              <a:buClr>
                <a:schemeClr val="tx1"/>
              </a:buClr>
              <a:buSzPct val="80000"/>
              <a:defRPr/>
            </a:lvl3pPr>
            <a:lvl4pPr marL="1828800">
              <a:buClr>
                <a:schemeClr val="tx1"/>
              </a:buClr>
              <a:buSzPct val="80000"/>
              <a:defRPr/>
            </a:lvl4pPr>
            <a:lvl5pPr marL="2286000">
              <a:buClr>
                <a:schemeClr val="tx1"/>
              </a:buClr>
              <a:buSzPct val="8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171EC5-29BE-C106-1E9B-0CBDB598A131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214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10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18288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1097280"/>
            <a:ext cx="4572000" cy="18288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3172968"/>
            <a:ext cx="10076688" cy="310896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77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572000" cy="3429000"/>
          </a:xfrm>
          <a:noFill/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400"/>
              </a:spcBef>
              <a:buSzPct val="80000"/>
              <a:defRPr sz="1800" b="1"/>
            </a:lvl1pPr>
            <a:lvl2pPr marL="4572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2pPr>
            <a:lvl3pPr marL="914400">
              <a:lnSpc>
                <a:spcPct val="90000"/>
              </a:lnSpc>
              <a:spcBef>
                <a:spcPts val="1400"/>
              </a:spcBef>
              <a:buSzPct val="80000"/>
              <a:defRPr sz="1800"/>
            </a:lvl3pPr>
            <a:lvl4pPr marL="9144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4pPr>
            <a:lvl5pPr marL="1371600">
              <a:lnSpc>
                <a:spcPct val="90000"/>
              </a:lnSpc>
              <a:spcBef>
                <a:spcPts val="1400"/>
              </a:spcBef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377440"/>
            <a:ext cx="4645152" cy="34290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800"/>
            </a:lvl2pPr>
            <a:lvl3pPr marL="1371600">
              <a:buSzPct val="80000"/>
              <a:defRPr sz="1800"/>
            </a:lvl3pPr>
            <a:lvl4pPr marL="1828800">
              <a:buSzPct val="80000"/>
              <a:defRPr sz="1800"/>
            </a:lvl4pPr>
            <a:lvl5pPr marL="2286000"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42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659BA83-0C6E-2A70-AED3-E386CABE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80160" y="2377440"/>
            <a:ext cx="9619488" cy="342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612406-06E6-DCE4-7F2F-D98836A802A6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889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 cap="all" baseline="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39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prstGeom prst="rect">
            <a:avLst/>
          </a:prstGeom>
          <a:noFill/>
        </p:spPr>
        <p:txBody>
          <a:bodyPr wrap="square" bIns="0" anchor="ctr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548640"/>
            <a:ext cx="2286000" cy="2286000"/>
          </a:xfrm>
          <a:prstGeom prst="ellipse">
            <a:avLst/>
          </a:prstGeom>
        </p:spPr>
        <p:txBody>
          <a:bodyPr anchor="t"/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CE7D81-1954-1B1F-C0AC-21C85AFD3C1E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110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09600"/>
            <a:ext cx="9821955" cy="125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855945"/>
            <a:ext cx="9821955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8A08F60-CEF1-832D-D403-282EA76CB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0624" y="6019801"/>
            <a:ext cx="4572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cap="all" spc="2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74" r:id="rId3"/>
    <p:sldLayoutId id="2147483675" r:id="rId4"/>
    <p:sldLayoutId id="2147483664" r:id="rId5"/>
    <p:sldLayoutId id="2147483676" r:id="rId6"/>
    <p:sldLayoutId id="2147483677" r:id="rId7"/>
    <p:sldLayoutId id="2147483681" r:id="rId8"/>
    <p:sldLayoutId id="2147483682" r:id="rId9"/>
    <p:sldLayoutId id="2147483683" r:id="rId10"/>
    <p:sldLayoutId id="2147483680" r:id="rId11"/>
    <p:sldLayoutId id="2147483684" r:id="rId12"/>
    <p:sldLayoutId id="214748367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4572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Courier New" panose="02070309020205020404" pitchFamily="49" charset="0"/>
        <a:buChar char="o"/>
        <a:defRPr sz="2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av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avif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A84AC06-B880-D8E3-EEAD-64B3C2B05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75" y="859154"/>
            <a:ext cx="4581526" cy="4581526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05E10E9-9AB7-0642-D4C4-DDFDAB7B5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27070"/>
            <a:ext cx="10515600" cy="4023360"/>
          </a:xfrm>
        </p:spPr>
        <p:txBody>
          <a:bodyPr/>
          <a:lstStyle/>
          <a:p>
            <a:r>
              <a:rPr lang="en-US" dirty="0"/>
              <a:t>Security management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A1307D8B-2864-21B6-1CE1-B605F2928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Node </a:t>
            </a:r>
            <a:r>
              <a:rPr lang="en-US" dirty="0" err="1"/>
              <a:t>js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215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B422-1287-FCEB-63CE-599FDC84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/>
          <a:lstStyle/>
          <a:p>
            <a:r>
              <a:rPr lang="en-IN" dirty="0"/>
              <a:t>Introduction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38CD2-9585-7E51-5359-D52935A77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5359" y="2209801"/>
            <a:ext cx="10673715" cy="862965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Node.js applications are often exposed to public networks, making them vulnerable to various attacks.</a:t>
            </a:r>
          </a:p>
          <a:p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Asynchronous architecture and extensive use of third-party packages increase potential risks.</a:t>
            </a:r>
          </a:p>
          <a:p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 security breach can compromise user data, system integrity, and business reputation.</a:t>
            </a:r>
          </a:p>
        </p:txBody>
      </p:sp>
    </p:spTree>
    <p:extLst>
      <p:ext uri="{BB962C8B-B14F-4D97-AF65-F5344CB8AC3E}">
        <p14:creationId xmlns:p14="http://schemas.microsoft.com/office/powerpoint/2010/main" val="2910866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0D023-6BB3-7638-8734-44BA23D39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DF503-0AA9-9C96-5E69-96692187E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5396" y="1066801"/>
            <a:ext cx="10073640" cy="2286000"/>
          </a:xfrm>
        </p:spPr>
        <p:txBody>
          <a:bodyPr/>
          <a:lstStyle/>
          <a:p>
            <a:r>
              <a:rPr lang="en-US" dirty="0"/>
              <a:t>Common Security Threats in Node.js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C333A-6D82-BFF1-6DC1-5B00D0190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5359" y="2209801"/>
            <a:ext cx="10673715" cy="862965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SQL Injection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– Malicious queries injected into your database.</a:t>
            </a:r>
          </a:p>
          <a:p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Cross-Site Scripting (XSS)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– Attackers inject malicious scripts into your web app.</a:t>
            </a:r>
          </a:p>
          <a:p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Cross-Site Request Forgery (CSRF)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– Forcing users to perform unwanted actions.</a:t>
            </a:r>
          </a:p>
          <a:p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Denial-of-Service (DoS)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– Flooding the server with excessive requests.</a:t>
            </a:r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  <a:p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Data Breaches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– Exposing sensitive data due to weak security controls.</a:t>
            </a:r>
          </a:p>
        </p:txBody>
      </p:sp>
    </p:spTree>
    <p:extLst>
      <p:ext uri="{BB962C8B-B14F-4D97-AF65-F5344CB8AC3E}">
        <p14:creationId xmlns:p14="http://schemas.microsoft.com/office/powerpoint/2010/main" val="2793644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87B92-95BB-74F6-BC97-9B6CA1B53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DB548-42EA-A3C5-7E90-0B908441D9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-704850"/>
            <a:ext cx="10315575" cy="2286000"/>
          </a:xfrm>
          <a:noFill/>
        </p:spPr>
        <p:txBody>
          <a:bodyPr anchor="b" anchorCtr="0"/>
          <a:lstStyle/>
          <a:p>
            <a:pPr algn="l"/>
            <a:r>
              <a:rPr lang="en-IN" sz="2800" dirty="0"/>
              <a:t>Secure Configuration Management</a:t>
            </a: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BA0976-8F52-8E3F-2018-F9694042A5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197" y="2127504"/>
            <a:ext cx="8887587" cy="914400"/>
          </a:xfrm>
          <a:noFill/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Storing sensitive data directly in your code can expose it to attackers.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BAAED4-C020-E39D-2A26-58AFBE97FB4E}"/>
              </a:ext>
            </a:extLst>
          </p:cNvPr>
          <p:cNvSpPr txBox="1"/>
          <p:nvPr/>
        </p:nvSpPr>
        <p:spPr>
          <a:xfrm>
            <a:off x="1462087" y="284184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+mj-lt"/>
              </a:rPr>
              <a:t>Solution :Use .env Files</a:t>
            </a:r>
            <a:endParaRPr lang="en-IN" sz="2000" dirty="0"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0767C3-EC3C-6B28-43FE-633CCA73CDFE}"/>
              </a:ext>
            </a:extLst>
          </p:cNvPr>
          <p:cNvSpPr txBox="1"/>
          <p:nvPr/>
        </p:nvSpPr>
        <p:spPr>
          <a:xfrm>
            <a:off x="1462087" y="35427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highlight>
                  <a:srgbClr val="C0C0C0"/>
                </a:highlight>
              </a:rPr>
              <a:t>.env </a:t>
            </a:r>
            <a:r>
              <a:rPr lang="en-US" dirty="0"/>
              <a:t>files store environment variables securely.</a:t>
            </a: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ABEC1838-C218-26DB-C837-94BAC25114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2087" y="4012810"/>
            <a:ext cx="589174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Best Practice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Never commit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</a:rPr>
              <a:t>.env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files to your repository.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FA3B705-5B8E-1874-378D-6DFEC154B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087" y="4871952"/>
            <a:ext cx="5529263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577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EB762-929B-9533-2BF7-AD95C3AED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B5489-24F6-A6C9-1FD0-BD3DF72C89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675" y="-704850"/>
            <a:ext cx="10315575" cy="2286000"/>
          </a:xfrm>
          <a:noFill/>
        </p:spPr>
        <p:txBody>
          <a:bodyPr anchor="b" anchorCtr="0"/>
          <a:lstStyle/>
          <a:p>
            <a:pPr algn="l"/>
            <a:r>
              <a:rPr lang="en-IN" sz="2800" dirty="0"/>
              <a:t>Data Validation and Sanitization</a:t>
            </a: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320FB3-BF82-52FB-724F-6DDFC515F9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893" y="1979895"/>
            <a:ext cx="8887587" cy="914400"/>
          </a:xfrm>
          <a:noFill/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Prevents injection attacks and ensures data integrity.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5F3FD0-3175-E3E2-DB9E-66DE6700BBA9}"/>
              </a:ext>
            </a:extLst>
          </p:cNvPr>
          <p:cNvSpPr txBox="1"/>
          <p:nvPr/>
        </p:nvSpPr>
        <p:spPr>
          <a:xfrm>
            <a:off x="1462087" y="289429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Best Practices:</a:t>
            </a: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B0F10731-E27E-CDCF-4512-99E5737B0B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8268" y="3770332"/>
            <a:ext cx="9415463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Use strong validation libraries like</a:t>
            </a:r>
            <a:r>
              <a:rPr lang="en-US" sz="2800" dirty="0">
                <a:highlight>
                  <a:srgbClr val="C0C0C0"/>
                </a:highligh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express-validator</a:t>
            </a:r>
            <a:r>
              <a:rPr lang="en-US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Sanitize user inputs to remove malicious characters.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US" altLang="en-US" sz="2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Define strong data rules (e.g., required fields , data types).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355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C937A-EAE4-CEBF-0A1B-134390D3B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ED9418F-F256-0684-F8E8-F0137EA1E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826" y="2009775"/>
            <a:ext cx="7758768" cy="405168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B8675A3-E0DB-7ADD-269F-45B8B3B0C4A5}"/>
              </a:ext>
            </a:extLst>
          </p:cNvPr>
          <p:cNvSpPr txBox="1"/>
          <p:nvPr/>
        </p:nvSpPr>
        <p:spPr>
          <a:xfrm>
            <a:off x="1647826" y="112978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Data Validation and Sanitization</a:t>
            </a:r>
          </a:p>
        </p:txBody>
      </p:sp>
    </p:spTree>
    <p:extLst>
      <p:ext uri="{BB962C8B-B14F-4D97-AF65-F5344CB8AC3E}">
        <p14:creationId xmlns:p14="http://schemas.microsoft.com/office/powerpoint/2010/main" val="1890383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F2BE4-0D28-2FD0-373C-9C177642F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02727BF-4B97-CB3A-38D3-463F6DB81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8644890" cy="1828800"/>
          </a:xfrm>
        </p:spPr>
        <p:txBody>
          <a:bodyPr/>
          <a:lstStyle/>
          <a:p>
            <a:r>
              <a:rPr lang="en-US" dirty="0"/>
              <a:t>Using Helmet for HTTP Security</a:t>
            </a: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4DC285D-042F-337C-E722-7F5AA9E870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4647" y="1821180"/>
            <a:ext cx="7369303" cy="18288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Helps secure your app by setting proper HTTP headers.</a:t>
            </a:r>
            <a:endParaRPr lang="en-IN" sz="2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8F91E1D-EF3F-4F79-24E1-A53457A3C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3325368"/>
            <a:ext cx="10076688" cy="1551432"/>
          </a:xfrm>
        </p:spPr>
        <p:txBody>
          <a:bodyPr>
            <a:normAutofit/>
          </a:bodyPr>
          <a:lstStyle/>
          <a:p>
            <a:r>
              <a:rPr lang="en-I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Prevents XSS attacks.</a:t>
            </a:r>
          </a:p>
          <a:p>
            <a:r>
              <a:rPr lang="en-I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Adds content Security Policy to limit allowed content sources . </a:t>
            </a:r>
          </a:p>
          <a:p>
            <a:r>
              <a:rPr lang="en-I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Controls X-Frame-Options to avoid clickjacking 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1044A7-2257-F2CD-2BA7-F506E019DCFD}"/>
              </a:ext>
            </a:extLst>
          </p:cNvPr>
          <p:cNvSpPr txBox="1"/>
          <p:nvPr/>
        </p:nvSpPr>
        <p:spPr>
          <a:xfrm>
            <a:off x="1514475" y="262635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Key Features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570A175-D4FB-8169-0F1A-CE7F29F4A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529" y="5154168"/>
            <a:ext cx="3705742" cy="8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257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EC585-364C-18EA-EE43-32C285BC1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FFC5A-1343-3A22-711C-0A64C4444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1097280"/>
            <a:ext cx="10368916" cy="1828800"/>
          </a:xfrm>
        </p:spPr>
        <p:txBody>
          <a:bodyPr/>
          <a:lstStyle/>
          <a:p>
            <a:r>
              <a:rPr lang="en-IN" sz="2800" dirty="0"/>
              <a:t>Preventing Cross-Origin Attacks (CORS)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ED33935-C4D1-DDCA-E868-6033CCA20B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4647" y="1821180"/>
            <a:ext cx="7369303" cy="18288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Restricts unauthorized domains from accessing your API.</a:t>
            </a:r>
            <a:endParaRPr lang="en-IN" sz="2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3F09A52-68F1-FCDC-283B-A61DD234BF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59" y="3325368"/>
            <a:ext cx="10076688" cy="951357"/>
          </a:xfrm>
        </p:spPr>
        <p:txBody>
          <a:bodyPr>
            <a:normAutofit/>
          </a:bodyPr>
          <a:lstStyle/>
          <a:p>
            <a:r>
              <a:rPr lang="en-I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Use </a:t>
            </a:r>
            <a:r>
              <a:rPr lang="en-IN" dirty="0" err="1">
                <a:highlight>
                  <a:srgbClr val="C0C0C0"/>
                </a:highligh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cors</a:t>
            </a:r>
            <a:r>
              <a:rPr lang="en-I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middleware to define safe origins .</a:t>
            </a:r>
          </a:p>
          <a:p>
            <a:r>
              <a:rPr lang="en-I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Avoid using </a:t>
            </a:r>
            <a:r>
              <a:rPr lang="en-IN" dirty="0">
                <a:highlight>
                  <a:srgbClr val="C0C0C0"/>
                </a:highligh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*</a:t>
            </a:r>
            <a:r>
              <a:rPr lang="en-I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as a wildcard in production 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391739-5284-C948-1460-3F575D181C98}"/>
              </a:ext>
            </a:extLst>
          </p:cNvPr>
          <p:cNvSpPr txBox="1"/>
          <p:nvPr/>
        </p:nvSpPr>
        <p:spPr>
          <a:xfrm>
            <a:off x="1514475" y="262635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Best Practices: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0EADD6-4B71-0F6C-AAEC-F185ED837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475" y="4970035"/>
            <a:ext cx="5487166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326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1ABE4-4FC1-96AE-07D4-ADF022F31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F5778C1-659A-CEC2-2803-6C2AFC7CA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1097280"/>
            <a:ext cx="10368916" cy="1828800"/>
          </a:xfrm>
        </p:spPr>
        <p:txBody>
          <a:bodyPr/>
          <a:lstStyle/>
          <a:p>
            <a:r>
              <a:rPr lang="en-IN" sz="2800" dirty="0"/>
              <a:t>Password Hashing with </a:t>
            </a:r>
            <a:r>
              <a:rPr lang="en-IN" sz="2800" dirty="0" err="1"/>
              <a:t>Bcrypt</a:t>
            </a:r>
            <a:endParaRPr lang="en-IN" sz="28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65AF54B-9686-D7A5-E820-CC5DA6DAAE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4647" y="1821180"/>
            <a:ext cx="7369303" cy="1828800"/>
          </a:xfrm>
        </p:spPr>
        <p:txBody>
          <a:bodyPr>
            <a:normAutofit/>
          </a:bodyPr>
          <a:lstStyle/>
          <a:p>
            <a:r>
              <a:rPr lang="en-US" sz="2400" dirty="0"/>
              <a:t>Storing plain text passwords can expose user data.</a:t>
            </a:r>
            <a:endParaRPr lang="en-IN" sz="2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8CD392A-5CD9-1266-88A6-B6CE34B92F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59" y="3325368"/>
            <a:ext cx="10076688" cy="1303782"/>
          </a:xfrm>
        </p:spPr>
        <p:txBody>
          <a:bodyPr>
            <a:normAutofit/>
          </a:bodyPr>
          <a:lstStyle/>
          <a:p>
            <a:r>
              <a:rPr lang="en-US" dirty="0"/>
              <a:t>Use strong hashing algorithms like </a:t>
            </a:r>
            <a:r>
              <a:rPr lang="en-US" dirty="0" err="1">
                <a:highlight>
                  <a:srgbClr val="C0C0C0"/>
                </a:highlight>
              </a:rPr>
              <a:t>bcrypt</a:t>
            </a:r>
            <a:r>
              <a:rPr lang="en-I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r>
              <a:rPr lang="en-US" dirty="0"/>
              <a:t>Add salting for improved security.</a:t>
            </a:r>
          </a:p>
          <a:p>
            <a:r>
              <a:rPr lang="en-IN" dirty="0"/>
              <a:t>Never store original passwords.</a:t>
            </a:r>
            <a:endParaRPr lang="en-IN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818DE1-6EC2-5DC8-7CE3-A53BAEB21F4C}"/>
              </a:ext>
            </a:extLst>
          </p:cNvPr>
          <p:cNvSpPr txBox="1"/>
          <p:nvPr/>
        </p:nvSpPr>
        <p:spPr>
          <a:xfrm>
            <a:off x="1514475" y="262635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Best Practices: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3D31B6-F43B-A11A-9D75-2738942AE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475" y="5066538"/>
            <a:ext cx="5830114" cy="11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787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B160A-302C-6FF8-94E0-7E311819E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DD5B36E-5288-F3C9-75E6-68165E528002}"/>
              </a:ext>
            </a:extLst>
          </p:cNvPr>
          <p:cNvSpPr/>
          <p:nvPr/>
        </p:nvSpPr>
        <p:spPr>
          <a:xfrm>
            <a:off x="6423888" y="2371726"/>
            <a:ext cx="5259478" cy="3581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C78A1E-36D8-0BF0-7A20-A92A2F822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978" y="358387"/>
            <a:ext cx="9502521" cy="674370"/>
          </a:xfrm>
          <a:noFill/>
        </p:spPr>
        <p:txBody>
          <a:bodyPr/>
          <a:lstStyle/>
          <a:p>
            <a:r>
              <a:rPr lang="en-IN" dirty="0"/>
              <a:t>Error Handling for Security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988E1-90A4-A715-89AC-297E6CE264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631800" y="3380737"/>
            <a:ext cx="4843653" cy="1962657"/>
          </a:xfrm>
          <a:noFill/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I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Return user-friendly error messages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Log detailed errors securely for internal use.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8CC77CD2-9EEA-4BAD-D3E0-59DAAB4B12DC}"/>
              </a:ext>
            </a:extLst>
          </p:cNvPr>
          <p:cNvSpPr txBox="1">
            <a:spLocks/>
          </p:cNvSpPr>
          <p:nvPr/>
        </p:nvSpPr>
        <p:spPr>
          <a:xfrm>
            <a:off x="474268" y="1642489"/>
            <a:ext cx="5758816" cy="100063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4572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b="0" i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0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18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Revealing stack traces or internal details                      can expose your system’s vulnerabilities.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592F97-7B0C-F597-EDE6-155545A6484C}"/>
              </a:ext>
            </a:extLst>
          </p:cNvPr>
          <p:cNvSpPr txBox="1"/>
          <p:nvPr/>
        </p:nvSpPr>
        <p:spPr>
          <a:xfrm>
            <a:off x="7138797" y="277100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Best Practices :-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F5B258-EE08-DC2A-76F3-CC38B85A7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979" y="3380737"/>
            <a:ext cx="5587366" cy="114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206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F8D2F-70EF-A07D-C7A2-5E28B3015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00B104A-02BF-8254-17DA-777359E329D2}"/>
              </a:ext>
            </a:extLst>
          </p:cNvPr>
          <p:cNvSpPr/>
          <p:nvPr/>
        </p:nvSpPr>
        <p:spPr>
          <a:xfrm>
            <a:off x="6423888" y="2371726"/>
            <a:ext cx="5259478" cy="3581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E8B236-95CD-E408-27D1-5026FEFE6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179" y="0"/>
            <a:ext cx="11207496" cy="1274445"/>
          </a:xfrm>
          <a:noFill/>
        </p:spPr>
        <p:txBody>
          <a:bodyPr/>
          <a:lstStyle/>
          <a:p>
            <a:r>
              <a:rPr lang="en-US" dirty="0"/>
              <a:t>Authentication Using JWT (JSON Web Token)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C1B2D-301D-84A7-055D-299973E102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9721" y="3179700"/>
            <a:ext cx="4843653" cy="2564130"/>
          </a:xfrm>
          <a:noFill/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Header: Contains token type &amp; algorithm.</a:t>
            </a:r>
          </a:p>
          <a:p>
            <a:r>
              <a:rPr lang="en-I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Payload: Contains user data.</a:t>
            </a:r>
          </a:p>
          <a:p>
            <a:r>
              <a:rPr lang="en-I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Signature: Ensures data integrity.</a:t>
            </a:r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C7E522A8-DAF4-3A7D-54FD-FCA2E1EC74C6}"/>
              </a:ext>
            </a:extLst>
          </p:cNvPr>
          <p:cNvSpPr txBox="1">
            <a:spLocks/>
          </p:cNvSpPr>
          <p:nvPr/>
        </p:nvSpPr>
        <p:spPr>
          <a:xfrm>
            <a:off x="508634" y="1875918"/>
            <a:ext cx="5873116" cy="1303782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4572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b="0" i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0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18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JWT is a secure method for transmitting data </a:t>
            </a:r>
          </a:p>
          <a:p>
            <a:pPr marL="0" indent="0">
              <a:buNone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    between parties.</a:t>
            </a:r>
          </a:p>
          <a:p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Tokens are stateless, reducing server load 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5D93E2-B8F4-CE94-C5AC-4C981201A1CF}"/>
              </a:ext>
            </a:extLst>
          </p:cNvPr>
          <p:cNvSpPr txBox="1"/>
          <p:nvPr/>
        </p:nvSpPr>
        <p:spPr>
          <a:xfrm>
            <a:off x="7357872" y="259448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Key Components :-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596CD2F-07B9-79FB-7732-4859DF750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704" y="3781173"/>
            <a:ext cx="5349621" cy="1571998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545238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A7C4F-4F86-5B77-EA65-277AF9C42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E7100-FA89-67BB-6C55-62E9E58DDE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5360" y="1028700"/>
            <a:ext cx="10241280" cy="647700"/>
          </a:xfrm>
          <a:noFill/>
        </p:spPr>
        <p:txBody>
          <a:bodyPr anchor="b" anchorCtr="0"/>
          <a:lstStyle/>
          <a:p>
            <a:pPr algn="l"/>
            <a:r>
              <a:rPr lang="en-IN" sz="3200" dirty="0"/>
              <a:t>Session Management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D0BA51-34E5-AA50-16E5-8C4695A7FB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5360" y="2165604"/>
            <a:ext cx="10721340" cy="914400"/>
          </a:xfrm>
          <a:noFill/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Weak session handling can lead to </a:t>
            </a:r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session hijacking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C62776-B3E3-2D12-E275-85F85EC54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3475" y="4013627"/>
            <a:ext cx="801879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Use secure cookies with the </a:t>
            </a:r>
            <a:r>
              <a:rPr lang="en-US" sz="2400" dirty="0" err="1">
                <a:highlight>
                  <a:srgbClr val="C0C0C0"/>
                </a:highligh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httpOnly</a:t>
            </a:r>
            <a:r>
              <a:rPr lang="en-US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and </a:t>
            </a:r>
            <a:r>
              <a:rPr lang="en-US" sz="2400" dirty="0">
                <a:highlight>
                  <a:srgbClr val="C0C0C0"/>
                </a:highligh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secure</a:t>
            </a:r>
            <a:r>
              <a:rPr lang="en-US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flags.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Set session expiration times.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Regenerate session IDs after login to prevent fixation attacks.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2C75875-B3F3-1753-E042-1E9BC04A5067}"/>
              </a:ext>
            </a:extLst>
          </p:cNvPr>
          <p:cNvSpPr txBox="1">
            <a:spLocks/>
          </p:cNvSpPr>
          <p:nvPr/>
        </p:nvSpPr>
        <p:spPr>
          <a:xfrm>
            <a:off x="1571625" y="3080003"/>
            <a:ext cx="4434840" cy="520827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l"/>
            <a:r>
              <a:rPr lang="en-IN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Best Practice :-</a:t>
            </a:r>
            <a:endParaRPr lang="en-US" sz="2400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706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B5229-A9CF-42DE-AB3E-E4D1FC33E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White DNA structure">
            <a:extLst>
              <a:ext uri="{FF2B5EF4-FFF2-40B4-BE49-F238E27FC236}">
                <a16:creationId xmlns:a16="http://schemas.microsoft.com/office/drawing/2014/main" id="{87C59445-CC26-1EC0-3D90-58CC7524EA5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5" r="5"/>
          <a:stretch/>
        </p:blipFill>
        <p:spPr>
          <a:xfrm>
            <a:off x="1524000" y="1481328"/>
            <a:ext cx="9144000" cy="3895344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9293DB2-26E6-9E6C-8019-F9EF8D7792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  <a:noFill/>
        </p:spPr>
        <p:txBody>
          <a:bodyPr anchor="ctr" anchorCtr="0"/>
          <a:lstStyle/>
          <a:p>
            <a:r>
              <a:rPr lang="en-US" dirty="0"/>
              <a:t>Market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CD6B71-67E4-FDF9-832E-2EC1BBB98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481328"/>
            <a:ext cx="9144000" cy="389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495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5360" y="1028700"/>
            <a:ext cx="10241280" cy="647700"/>
          </a:xfrm>
          <a:noFill/>
        </p:spPr>
        <p:txBody>
          <a:bodyPr anchor="b" anchorCtr="0"/>
          <a:lstStyle/>
          <a:p>
            <a:pPr algn="l"/>
            <a:r>
              <a:rPr lang="en-IN" sz="3200" dirty="0"/>
              <a:t>Secure File Uploads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CEBD4-35BF-26BB-D438-DA43EBD5E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5360" y="2165604"/>
            <a:ext cx="10721340" cy="914400"/>
          </a:xfrm>
          <a:noFill/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Attackers may upload malicious files to gain access to your system or overload </a:t>
            </a:r>
          </a:p>
          <a:p>
            <a:pPr algn="l"/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   your server.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28F6026-4F0B-6BCB-00B1-6FA9D85B2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3475" y="4013627"/>
            <a:ext cx="765728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Use libraries like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multer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for safe file uploads.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Restrict file types to trusted formats (e.g., .jpg, .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.pdf).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Limit file sizes to prevent denial-of-service (DoS) attacks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FC21BA3-7CC8-E5B2-8244-776C08D87FC6}"/>
              </a:ext>
            </a:extLst>
          </p:cNvPr>
          <p:cNvSpPr txBox="1">
            <a:spLocks/>
          </p:cNvSpPr>
          <p:nvPr/>
        </p:nvSpPr>
        <p:spPr>
          <a:xfrm>
            <a:off x="1562100" y="2736343"/>
            <a:ext cx="4434840" cy="1041654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l"/>
            <a:r>
              <a:rPr lang="en-IN" sz="2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Best Practice :-</a:t>
            </a:r>
            <a:endParaRPr lang="en-US" sz="2400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8D20B-7FE8-E9AF-1F4F-1DA56714A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White DNA structure">
            <a:extLst>
              <a:ext uri="{FF2B5EF4-FFF2-40B4-BE49-F238E27FC236}">
                <a16:creationId xmlns:a16="http://schemas.microsoft.com/office/drawing/2014/main" id="{2AD0DF48-EAB3-0103-CD2A-373820917A2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5" r="5"/>
          <a:stretch/>
        </p:blipFill>
        <p:spPr>
          <a:xfrm>
            <a:off x="1524000" y="1481328"/>
            <a:ext cx="9144000" cy="3895344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640644D-A279-A122-B4EF-BBD8E2DED3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  <a:noFill/>
        </p:spPr>
        <p:txBody>
          <a:bodyPr anchor="ctr" anchorCtr="0"/>
          <a:lstStyle/>
          <a:p>
            <a:r>
              <a:rPr lang="en-US" dirty="0"/>
              <a:t>Market overview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413D2C-DA75-B47C-CD8B-1F682FCAB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809" y="1004549"/>
            <a:ext cx="9364382" cy="484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228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E39FA-84F2-3624-49D6-32B9E036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noFill/>
        </p:spPr>
        <p:txBody>
          <a:bodyPr bIns="0" anchor="ctr" anchorCtr="0"/>
          <a:lstStyle/>
          <a:p>
            <a:r>
              <a:rPr lang="en-US" dirty="0"/>
              <a:t>Thank you</a:t>
            </a:r>
          </a:p>
        </p:txBody>
      </p:sp>
      <p:pic>
        <p:nvPicPr>
          <p:cNvPr id="7" name="Picture Placeholder 25" descr="Bacteria cultured in a petri dish for a laboratory or a scientific investigation">
            <a:extLst>
              <a:ext uri="{FF2B5EF4-FFF2-40B4-BE49-F238E27FC236}">
                <a16:creationId xmlns:a16="http://schemas.microsoft.com/office/drawing/2014/main" id="{F46DA087-2662-0725-53F9-CF835D1DC8F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" r="74"/>
          <a:stretch/>
        </p:blipFill>
        <p:spPr>
          <a:xfrm>
            <a:off x="4953000" y="548640"/>
            <a:ext cx="2286000" cy="22860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04BCD3-171F-C06E-AC4E-108832525D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 anchorCtr="0"/>
          <a:lstStyle/>
          <a:p>
            <a:r>
              <a:rPr lang="en-US" dirty="0"/>
              <a:t>Stuti shah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1F91EC-C6A3-6715-482D-C66566679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0" y="313372"/>
            <a:ext cx="2944178" cy="2944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52273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cientific Discover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6D3ED"/>
      </a:accent1>
      <a:accent2>
        <a:srgbClr val="C7DBE1"/>
      </a:accent2>
      <a:accent3>
        <a:srgbClr val="688EBD"/>
      </a:accent3>
      <a:accent4>
        <a:srgbClr val="BCE5DD"/>
      </a:accent4>
      <a:accent5>
        <a:srgbClr val="66DDCC"/>
      </a:accent5>
      <a:accent6>
        <a:srgbClr val="E0CE61"/>
      </a:accent6>
      <a:hlink>
        <a:srgbClr val="0563C1"/>
      </a:hlink>
      <a:folHlink>
        <a:srgbClr val="954F72"/>
      </a:folHlink>
    </a:clrScheme>
    <a:fontScheme name="Custom 36">
      <a:majorFont>
        <a:latin typeface="Posterama"/>
        <a:ea typeface=""/>
        <a:cs typeface=""/>
      </a:majorFont>
      <a:minorFont>
        <a:latin typeface="Daytona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ientific discovery_V1_win32_EF_v4.potx" id="{C76E1CB0-558D-4FB9-AA8B-DAB0BFDB970A}" vid="{87D4F3E9-C3BB-413B-A87E-0B7BB674A5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A734A7-6096-47AA-9737-CDF62701A0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881D8D6-8849-400B-8BC9-21D401C7DD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DF8397A0-8C35-4EEE-8E61-47C914415B5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{1EF85B6F-B7F1-4F51-B257-E115CF608A31}tf67061901_win32</Template>
  <TotalTime>129</TotalTime>
  <Words>508</Words>
  <Application>Microsoft Office PowerPoint</Application>
  <PresentationFormat>Widescreen</PresentationFormat>
  <Paragraphs>71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Courier New</vt:lpstr>
      <vt:lpstr>Daytona Condensed Light</vt:lpstr>
      <vt:lpstr>Posterama</vt:lpstr>
      <vt:lpstr>Wingdings</vt:lpstr>
      <vt:lpstr>Custom</vt:lpstr>
      <vt:lpstr>Security management</vt:lpstr>
      <vt:lpstr>Introduction</vt:lpstr>
      <vt:lpstr>Common Security Threats in Node.js</vt:lpstr>
      <vt:lpstr>Secure Configuration Management</vt:lpstr>
      <vt:lpstr>Data Validation and Sanitization</vt:lpstr>
      <vt:lpstr>PowerPoint Presentation</vt:lpstr>
      <vt:lpstr>Using Helmet for HTTP Security</vt:lpstr>
      <vt:lpstr>Preventing Cross-Origin Attacks (CORS)</vt:lpstr>
      <vt:lpstr>Password Hashing with Bcrypt</vt:lpstr>
      <vt:lpstr>Error Handling for Security</vt:lpstr>
      <vt:lpstr>Authentication Using JWT (JSON Web Token)</vt:lpstr>
      <vt:lpstr>Session Management</vt:lpstr>
      <vt:lpstr>Market overview</vt:lpstr>
      <vt:lpstr>Secure File Uploads</vt:lpstr>
      <vt:lpstr>Market overview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uday shah</dc:creator>
  <cp:lastModifiedBy>uday shah</cp:lastModifiedBy>
  <cp:revision>1</cp:revision>
  <dcterms:created xsi:type="dcterms:W3CDTF">2025-03-20T15:32:39Z</dcterms:created>
  <dcterms:modified xsi:type="dcterms:W3CDTF">2025-03-20T17:41:51Z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